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67" r:id="rId3"/>
    <p:sldId id="261" r:id="rId4"/>
    <p:sldId id="268" r:id="rId5"/>
    <p:sldId id="269" r:id="rId6"/>
    <p:sldId id="264" r:id="rId7"/>
  </p:sldIdLst>
  <p:sldSz cx="12188825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  <p15:guide id="6" pos="10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9EA"/>
    <a:srgbClr val="4655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howGuides="1">
      <p:cViewPr varScale="1">
        <p:scale>
          <a:sx n="114" d="100"/>
          <a:sy n="114" d="100"/>
        </p:scale>
        <p:origin x="414" y="96"/>
      </p:cViewPr>
      <p:guideLst>
        <p:guide orient="horz" pos="2160"/>
        <p:guide pos="3839"/>
        <p:guide pos="100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87" d="100"/>
          <a:sy n="87" d="100"/>
        </p:scale>
        <p:origin x="3090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5905B5C-EA03-4690-83CD-FEFD814D65B4}" type="datetime4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2026년 1월 12일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4360E59-1627-4404-ACC5-51C744AB0F27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162254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4850ADA-4A79-44EA-AE52-C6C418D547D1}" type="datetime4">
              <a:rPr lang="ko-KR" altLang="en-US" smtClean="0"/>
              <a:pPr/>
              <a:t>2026년 1월 12일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41221E5-7225-48EB-A4EE-420E7BFCF705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5566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1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1920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2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21949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3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97486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4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02626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5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189985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6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94032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 bwMode="ltGray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/>
        </p:nvSpPr>
        <p:spPr bwMode="ltGray">
          <a:xfrm>
            <a:off x="121888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/>
          <p:cNvSpPr/>
          <p:nvPr/>
        </p:nvSpPr>
        <p:spPr bwMode="gray">
          <a:xfrm>
            <a:off x="0" y="0"/>
            <a:ext cx="1218883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3" name="직선 연결선 12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4"/>
          <p:cNvCxnSpPr/>
          <p:nvPr/>
        </p:nvCxnSpPr>
        <p:spPr bwMode="white">
          <a:xfrm>
            <a:off x="1218884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 bwMode="white">
          <a:xfrm>
            <a:off x="0" y="5631204"/>
            <a:ext cx="182832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파이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428669" y="1600200"/>
            <a:ext cx="8329031" cy="2680127"/>
          </a:xfrm>
        </p:spPr>
        <p:txBody>
          <a:bodyPr rtlCol="0">
            <a:noAutofit/>
          </a:bodyPr>
          <a:lstStyle>
            <a:lvl1pPr>
              <a:defRPr sz="5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428669" y="4344915"/>
            <a:ext cx="7516442" cy="1116085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E35DF25-BE88-4327-9778-737BABF43563}" type="datetime4">
              <a:rPr lang="ko-KR" altLang="en-US" noProof="0" smtClean="0"/>
              <a:t>2026년 1월 12일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0666412" y="6356351"/>
            <a:ext cx="609441" cy="365125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DC1BBB0-96F0-4077-A278-0F3FB5C104D3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817955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E85489-0473-4CEC-96B1-656A49F02CDC}" type="datetime4">
              <a:rPr lang="ko-KR" altLang="en-US" noProof="0" smtClean="0"/>
              <a:t>2026년 1월 12일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DC1BBB0-96F0-4077-A278-0F3FB5C104D3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18553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/>
          <p:cNvSpPr/>
          <p:nvPr/>
        </p:nvSpPr>
        <p:spPr bwMode="black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직사각형 19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직사각형 23"/>
          <p:cNvSpPr/>
          <p:nvPr/>
        </p:nvSpPr>
        <p:spPr bwMode="gray">
          <a:xfrm>
            <a:off x="1216152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2" name="직선 연결선 21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파이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3" name="직선 연결선 22"/>
          <p:cNvCxnSpPr/>
          <p:nvPr/>
        </p:nvCxnSpPr>
        <p:spPr bwMode="white">
          <a:xfrm>
            <a:off x="1216152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/>
          <p:cNvSpPr/>
          <p:nvPr/>
        </p:nvSpPr>
        <p:spPr bwMode="black">
          <a:xfrm>
            <a:off x="11579384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직사각형 26"/>
          <p:cNvSpPr/>
          <p:nvPr/>
        </p:nvSpPr>
        <p:spPr bwMode="gray">
          <a:xfrm>
            <a:off x="11274663" y="0"/>
            <a:ext cx="304721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직사각형 27"/>
          <p:cNvSpPr/>
          <p:nvPr/>
        </p:nvSpPr>
        <p:spPr bwMode="gray">
          <a:xfrm>
            <a:off x="1218883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-2" y="0"/>
            <a:ext cx="1218883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/>
          <p:cNvSpPr/>
          <p:nvPr/>
        </p:nvSpPr>
        <p:spPr bwMode="ltGray">
          <a:xfrm>
            <a:off x="0" y="0"/>
            <a:ext cx="12188825" cy="6096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1" name="직선 연결선 30"/>
          <p:cNvCxnSpPr/>
          <p:nvPr/>
        </p:nvCxnSpPr>
        <p:spPr bwMode="white">
          <a:xfrm>
            <a:off x="11573293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 bwMode="black">
          <a:xfrm>
            <a:off x="0" y="0"/>
            <a:ext cx="1216152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3" name="직선 연결선 32"/>
          <p:cNvCxnSpPr/>
          <p:nvPr/>
        </p:nvCxnSpPr>
        <p:spPr bwMode="white">
          <a:xfrm>
            <a:off x="1218884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98613" y="1600201"/>
            <a:ext cx="8283272" cy="2654064"/>
          </a:xfrm>
        </p:spPr>
        <p:txBody>
          <a:bodyPr rtlCol="0" anchor="b">
            <a:normAutofit/>
          </a:bodyPr>
          <a:lstStyle>
            <a:lvl1pPr algn="l">
              <a:defRPr sz="5400" b="0" cap="none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598613" y="4259996"/>
            <a:ext cx="7264623" cy="1150203"/>
          </a:xfrm>
        </p:spPr>
        <p:txBody>
          <a:bodyPr rtlCol="0" anchor="t">
            <a:normAutofit/>
          </a:bodyPr>
          <a:lstStyle>
            <a:lvl1pPr marL="0" indent="0">
              <a:spcBef>
                <a:spcPts val="0"/>
              </a:spcBef>
              <a:buNone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453B5DC-0B41-4B0D-A171-9E35C96AC0B7}" type="datetime4">
              <a:rPr lang="ko-KR" altLang="en-US" noProof="0" smtClean="0"/>
              <a:t>2026년 1월 12일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0666571" y="6356351"/>
            <a:ext cx="609441" cy="365125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DC1BBB0-96F0-4077-A278-0F3FB5C104D3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234467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4814586" cy="4572000"/>
          </a:xfrm>
        </p:spPr>
        <p:txBody>
          <a:bodyPr rtlCol="0"/>
          <a:lstStyle>
            <a:lvl1pPr>
              <a:defRPr sz="2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561651" y="1600200"/>
            <a:ext cx="4814586" cy="4572000"/>
          </a:xfrm>
        </p:spPr>
        <p:txBody>
          <a:bodyPr rtlCol="0"/>
          <a:lstStyle>
            <a:lvl1pPr>
              <a:defRPr sz="2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598985B-846B-4C40-9F35-583F0E615C94}" type="datetime4">
              <a:rPr lang="ko-KR" altLang="en-US" noProof="0" smtClean="0"/>
              <a:t>2026년 1월 12일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DC1BBB0-96F0-4077-A278-0F3FB5C104D3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39113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593436" y="1499616"/>
            <a:ext cx="4818888" cy="938784"/>
          </a:xfrm>
        </p:spPr>
        <p:txBody>
          <a:bodyPr rtlCol="0"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593436" y="2514706"/>
            <a:ext cx="4814586" cy="3657493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557349" y="1499616"/>
            <a:ext cx="4818888" cy="938784"/>
          </a:xfrm>
        </p:spPr>
        <p:txBody>
          <a:bodyPr rtlCol="0"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557349" y="2514600"/>
            <a:ext cx="4818888" cy="3655568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0E74411-231B-434B-A8A1-2B6BFD27CEA9}" type="datetime4">
              <a:rPr lang="ko-KR" altLang="en-US" noProof="0" smtClean="0"/>
              <a:t>2026년 1월 12일</a:t>
            </a:fld>
            <a:endParaRPr lang="ko-KR" altLang="en-US" noProof="0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13835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0BCFAE1-F7DB-4234-B479-E9B04DC7D437}" type="datetime4">
              <a:rPr lang="ko-KR" altLang="en-US" noProof="0" smtClean="0"/>
              <a:t>2026년 1월 12일</a:t>
            </a:fld>
            <a:endParaRPr lang="ko-KR" altLang="en-US" noProof="0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163578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ltGray">
          <a:xfrm>
            <a:off x="626239" y="0"/>
            <a:ext cx="30472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" name="직선 연결선 6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/>
          <p:cNvSpPr/>
          <p:nvPr/>
        </p:nvSpPr>
        <p:spPr bwMode="gray">
          <a:xfrm>
            <a:off x="10969942" y="0"/>
            <a:ext cx="922621" cy="6858000"/>
          </a:xfrm>
          <a:prstGeom prst="rect">
            <a:avLst/>
          </a:prstGeom>
          <a:solidFill>
            <a:schemeClr val="accent1">
              <a:lumMod val="75000"/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/>
          <p:cNvSpPr/>
          <p:nvPr/>
        </p:nvSpPr>
        <p:spPr bwMode="black">
          <a:xfrm>
            <a:off x="11892563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BC7B32D-335A-4CCE-95F7-27C75A015B7F}" type="datetime4">
              <a:rPr lang="ko-KR" altLang="en-US" noProof="0" smtClean="0"/>
              <a:t>2026년 1월 12일</a:t>
            </a:fld>
            <a:endParaRPr lang="ko-KR" altLang="en-US" noProof="0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바닥글 추가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DC1BBB0-96F0-4077-A278-0F3FB5C104D3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7838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 bwMode="gray">
          <a:xfrm>
            <a:off x="621792" y="0"/>
            <a:ext cx="4147717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/>
          <p:cNvSpPr/>
          <p:nvPr/>
        </p:nvSpPr>
        <p:spPr bwMode="lt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0" name="직선 연결선 9"/>
          <p:cNvCxnSpPr/>
          <p:nvPr/>
        </p:nvCxnSpPr>
        <p:spPr bwMode="white">
          <a:xfrm>
            <a:off x="621792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 bwMode="white">
          <a:xfrm>
            <a:off x="1074240" y="381000"/>
            <a:ext cx="3293422" cy="1371600"/>
          </a:xfrm>
        </p:spPr>
        <p:txBody>
          <a:bodyPr rtlCol="0" anchor="b">
            <a:normAutofit/>
          </a:bodyPr>
          <a:lstStyle>
            <a:lvl1pPr algn="l">
              <a:defRPr sz="2800" b="0" cap="all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0251" y="482600"/>
            <a:ext cx="6195986" cy="5689600"/>
          </a:xfrm>
        </p:spPr>
        <p:txBody>
          <a:bodyPr rtlCol="0">
            <a:normAutofit/>
          </a:bodyPr>
          <a:lstStyle>
            <a:lvl1pPr>
              <a:defRPr sz="2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 bwMode="white">
          <a:xfrm>
            <a:off x="1074240" y="1828800"/>
            <a:ext cx="3293422" cy="4343400"/>
          </a:xfrm>
        </p:spPr>
        <p:txBody>
          <a:bodyPr rtlCol="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1D7E0E93-844A-4B00-9DF0-05111E5494C4}" type="datetime4">
              <a:rPr lang="ko-KR" altLang="en-US" noProof="0" smtClean="0"/>
              <a:t>2026년 1월 12일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DC1BBB0-96F0-4077-A278-0F3FB5C104D3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518043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7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/>
          <p:cNvSpPr/>
          <p:nvPr/>
        </p:nvSpPr>
        <p:spPr bwMode="ltGray">
          <a:xfrm>
            <a:off x="4875530" y="0"/>
            <a:ext cx="7017034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4240" y="381000"/>
            <a:ext cx="3293422" cy="1371600"/>
          </a:xfrm>
        </p:spPr>
        <p:txBody>
          <a:bodyPr rtlCol="0" anchor="b">
            <a:normAutofit/>
          </a:bodyPr>
          <a:lstStyle>
            <a:lvl1pPr algn="l">
              <a:defRPr sz="2800" b="0" cap="all" baseline="0">
                <a:solidFill>
                  <a:schemeClr val="tx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그림 개체 틀 2" descr="이미지를 추가할 수 있는 빈 개체 틀입니다. 개체 틀을 클릭하고 추가할 이미지를 선택하세요."/>
          <p:cNvSpPr>
            <a:spLocks noGrp="1"/>
          </p:cNvSpPr>
          <p:nvPr>
            <p:ph type="pic" idx="1"/>
          </p:nvPr>
        </p:nvSpPr>
        <p:spPr bwMode="auto">
          <a:xfrm>
            <a:off x="5180251" y="482600"/>
            <a:ext cx="6195986" cy="5689600"/>
          </a:xfrm>
          <a:ln w="19050">
            <a:solidFill>
              <a:schemeClr val="bg1"/>
            </a:solidFill>
          </a:ln>
        </p:spPr>
        <p:txBody>
          <a:bodyPr rtlCol="0">
            <a:normAutofit/>
          </a:bodyPr>
          <a:lstStyle>
            <a:lvl1pPr marL="0" indent="0">
              <a:buNone/>
              <a:defRPr sz="2800" baseline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074240" y="1828800"/>
            <a:ext cx="3293422" cy="4343400"/>
          </a:xfrm>
        </p:spPr>
        <p:txBody>
          <a:bodyPr rtlCol="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1D4E086-F3BA-4A95-AFB5-D273C3A9E29B}" type="datetime4">
              <a:rPr lang="ko-KR" altLang="en-US" noProof="0" smtClean="0"/>
              <a:t>2026년 1월 12일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DC1BBB0-96F0-4077-A278-0F3FB5C104D3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  <p:cxnSp>
        <p:nvCxnSpPr>
          <p:cNvPr id="10" name="직선 연결선 9"/>
          <p:cNvCxnSpPr/>
          <p:nvPr/>
        </p:nvCxnSpPr>
        <p:spPr bwMode="white">
          <a:xfrm>
            <a:off x="11879867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900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E9B43108-623B-43F4-8FC9-5F90213677BF}" type="datetime4">
              <a:rPr lang="ko-KR" altLang="en-US" noProof="0" smtClean="0"/>
              <a:t>2026년 1월 12일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DC1BBB0-96F0-4077-A278-0F3FB5C104D3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040880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1" name="직선 연결선 10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파이"/>
          <p:cNvSpPr>
            <a:spLocks/>
          </p:cNvSpPr>
          <p:nvPr/>
        </p:nvSpPr>
        <p:spPr bwMode="white">
          <a:xfrm rot="5400000"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4" name="직선 연결선 13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599612" y="685800"/>
            <a:ext cx="1787526" cy="5486400"/>
          </a:xfrm>
        </p:spPr>
        <p:txBody>
          <a:bodyPr vert="eaVert"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598613" y="685800"/>
            <a:ext cx="7848599" cy="5486400"/>
          </a:xfrm>
        </p:spPr>
        <p:txBody>
          <a:bodyPr vert="eaVert"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32089CF-49FB-45E1-B4F4-3300B5FEF488}" type="datetime4">
              <a:rPr lang="ko-KR" altLang="en-US" noProof="0" smtClean="0"/>
              <a:t>2026년 1월 12일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DC1BBB0-96F0-4077-A278-0F3FB5C104D3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61281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4" name="직선 연결선 13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파이"/>
          <p:cNvSpPr>
            <a:spLocks/>
          </p:cNvSpPr>
          <p:nvPr/>
        </p:nvSpPr>
        <p:spPr bwMode="white">
          <a:xfrm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6" name="직선 연결선 15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ko-KR" altLang="en-US" noProof="0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593436" y="1600200"/>
            <a:ext cx="9782801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875212" y="6356351"/>
            <a:ext cx="15239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all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3F4272C0-03A7-4D51-97AA-68962CC661E0}" type="datetime4">
              <a:rPr lang="ko-KR" altLang="en-US" noProof="0" smtClean="0"/>
              <a:t>2026년 1월 12일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all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all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DC1BBB0-96F0-4077-A278-0F3FB5C104D3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05432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kern="1200">
          <a:solidFill>
            <a:schemeClr val="tx1">
              <a:lumMod val="7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46888" indent="-246888" algn="l" defTabSz="914400" rtl="0" eaLnBrk="1" latinLnBrk="1" hangingPunct="1">
        <a:lnSpc>
          <a:spcPct val="90000"/>
        </a:lnSpc>
        <a:spcBef>
          <a:spcPts val="1400"/>
        </a:spcBef>
        <a:buFont typeface="Euphemia" pitchFamily="34" charset="0"/>
        <a:buChar char="›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12648" indent="-246888" algn="l" defTabSz="914400" rtl="0" eaLnBrk="1" latinLnBrk="1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978408" indent="-246888" algn="l" defTabSz="914400" rtl="0" eaLnBrk="1" latinLnBrk="1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344168" indent="-246888" algn="l" defTabSz="914400" rtl="0" eaLnBrk="1" latinLnBrk="1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709928" indent="-246888" algn="l" defTabSz="914400" rtl="0" eaLnBrk="1" latinLnBrk="1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75688" indent="-246888" algn="l" defTabSz="914400" rtl="0" eaLnBrk="1" latinLnBrk="1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1448" indent="-246888" algn="l" defTabSz="914400" rtl="0" eaLnBrk="1" latinLnBrk="1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807208" indent="-246888" algn="l" defTabSz="914400" rtl="0" eaLnBrk="1" latinLnBrk="1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172968" indent="-246888" algn="l" defTabSz="914400" rtl="0" eaLnBrk="1" latinLnBrk="1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422004" y="188640"/>
            <a:ext cx="9289032" cy="2304256"/>
          </a:xfrm>
        </p:spPr>
        <p:txBody>
          <a:bodyPr rtlCol="0"/>
          <a:lstStyle/>
          <a:p>
            <a:pPr rtl="0"/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포트폴리오웹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앱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UI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개선 결과 보고서</a:t>
            </a:r>
          </a:p>
        </p:txBody>
      </p:sp>
      <p:sp>
        <p:nvSpPr>
          <p:cNvPr id="7" name="부제목 6">
            <a:extLst>
              <a:ext uri="{FF2B5EF4-FFF2-40B4-BE49-F238E27FC236}">
                <a16:creationId xmlns:a16="http://schemas.microsoft.com/office/drawing/2014/main" id="{40A1C46E-7811-416D-A2CF-7030558718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작성자 </a:t>
            </a:r>
            <a:r>
              <a:rPr lang="en-US" altLang="ko-KR" dirty="0"/>
              <a:t>: </a:t>
            </a:r>
            <a:r>
              <a:rPr lang="ko-KR" altLang="en-US" dirty="0" err="1"/>
              <a:t>민주은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목차</a:t>
            </a:r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>
              <a:lnSpc>
                <a:spcPct val="200000"/>
              </a:lnSpc>
            </a:pP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포트폴리오웹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웹 사용성 체크리스트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rtl="0">
              <a:lnSpc>
                <a:spcPct val="20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발생한 결함 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rtl="0">
              <a:lnSpc>
                <a:spcPct val="200000"/>
              </a:lnSpc>
            </a:pPr>
            <a:r>
              <a:rPr lang="ko-KR" altLang="en-US" dirty="0"/>
              <a:t>점검 및 개선사항  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29916" y="271120"/>
            <a:ext cx="9782801" cy="724941"/>
          </a:xfrm>
        </p:spPr>
        <p:txBody>
          <a:bodyPr rtlCol="0">
            <a:normAutofit fontScale="90000"/>
          </a:bodyPr>
          <a:lstStyle/>
          <a:p>
            <a:pPr rtl="0">
              <a:lnSpc>
                <a:spcPct val="200000"/>
              </a:lnSpc>
            </a:pPr>
            <a:r>
              <a:rPr lang="ko-KR" altLang="en-US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포트폴리오웹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사용성 체크리스트</a:t>
            </a:r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BA3F5109-FFBE-4F7D-875D-B6B18DB2B7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361142"/>
              </p:ext>
            </p:extLst>
          </p:nvPr>
        </p:nvGraphicFramePr>
        <p:xfrm>
          <a:off x="1701924" y="1124744"/>
          <a:ext cx="9361041" cy="5425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40260">
                  <a:extLst>
                    <a:ext uri="{9D8B030D-6E8A-4147-A177-3AD203B41FA5}">
                      <a16:colId xmlns:a16="http://schemas.microsoft.com/office/drawing/2014/main" val="4161233448"/>
                    </a:ext>
                  </a:extLst>
                </a:gridCol>
                <a:gridCol w="5796644">
                  <a:extLst>
                    <a:ext uri="{9D8B030D-6E8A-4147-A177-3AD203B41FA5}">
                      <a16:colId xmlns:a16="http://schemas.microsoft.com/office/drawing/2014/main" val="2686077875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28724844"/>
                    </a:ext>
                  </a:extLst>
                </a:gridCol>
                <a:gridCol w="648073">
                  <a:extLst>
                    <a:ext uri="{9D8B030D-6E8A-4147-A177-3AD203B41FA5}">
                      <a16:colId xmlns:a16="http://schemas.microsoft.com/office/drawing/2014/main" val="5536860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분류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체크항목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체크</a:t>
                      </a:r>
                    </a:p>
                  </a:txBody>
                  <a:tcPr>
                    <a:solidFill>
                      <a:srgbClr val="46556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728397"/>
                  </a:ext>
                </a:extLst>
              </a:tr>
              <a:tr h="13321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bg1"/>
                          </a:solidFill>
                        </a:rPr>
                        <a:t>YES</a:t>
                      </a:r>
                      <a:endParaRPr lang="ko-KR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655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bg1"/>
                          </a:solidFill>
                        </a:rPr>
                        <a:t>NO</a:t>
                      </a:r>
                      <a:endParaRPr lang="ko-KR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655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7849407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/>
                        <a:t>레이아웃</a:t>
                      </a:r>
                      <a:r>
                        <a:rPr lang="en-US" altLang="ko-KR" sz="1500" dirty="0"/>
                        <a:t>&amp;</a:t>
                      </a:r>
                    </a:p>
                    <a:p>
                      <a:pPr algn="ctr" latinLnBrk="1"/>
                      <a:r>
                        <a:rPr lang="ko-KR" altLang="en-US" sz="1500" dirty="0"/>
                        <a:t>네비게이션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사이트에 장착된 디자인이 반드시 필요한가</a:t>
                      </a:r>
                      <a:r>
                        <a:rPr lang="en-US" altLang="ko-KR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? (</a:t>
                      </a:r>
                      <a:r>
                        <a:rPr lang="ko-KR" altLang="en-US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불필요한 요소나 효과는 없는가</a:t>
                      </a:r>
                      <a:r>
                        <a:rPr lang="en-US" altLang="ko-KR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? </a:t>
                      </a:r>
                      <a:r>
                        <a:rPr lang="ko-KR" altLang="en-US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디자인이 사이트의 네비게이션에 방해가 되지 않는가</a:t>
                      </a:r>
                      <a:r>
                        <a:rPr lang="en-US" altLang="ko-KR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?)</a:t>
                      </a:r>
                      <a:endParaRPr lang="ko-KR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O</a:t>
                      </a:r>
                      <a:endParaRPr lang="ko-KR" alt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94224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E9E9E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레이아웃과 색상 등이 주제와 어울리는가</a:t>
                      </a:r>
                      <a:r>
                        <a:rPr lang="en-US" altLang="ko-KR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  <a:endParaRPr lang="ko-KR" altLang="en-US" sz="1500" dirty="0"/>
                    </a:p>
                  </a:txBody>
                  <a:tcPr>
                    <a:solidFill>
                      <a:srgbClr val="E9E9E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O</a:t>
                      </a:r>
                      <a:endParaRPr lang="ko-KR" altLang="en-US" sz="1500" dirty="0"/>
                    </a:p>
                  </a:txBody>
                  <a:tcPr anchor="ctr">
                    <a:solidFill>
                      <a:srgbClr val="E9E9E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E9E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798175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E9E9E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서체</a:t>
                      </a:r>
                      <a:r>
                        <a:rPr lang="en-US" altLang="ko-KR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색상</a:t>
                      </a:r>
                      <a:r>
                        <a:rPr lang="en-US" altLang="ko-KR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레이아웃 등의 일관성과 통일성을 유지하고 있는가</a:t>
                      </a:r>
                      <a:r>
                        <a:rPr lang="en-US" altLang="ko-KR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  <a:endParaRPr lang="ko-KR" altLang="en-US" sz="1500" dirty="0"/>
                    </a:p>
                  </a:txBody>
                  <a:tcPr>
                    <a:solidFill>
                      <a:srgbClr val="E9E9E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O</a:t>
                      </a:r>
                      <a:endParaRPr lang="ko-KR" altLang="en-US" sz="1500" dirty="0"/>
                    </a:p>
                  </a:txBody>
                  <a:tcPr anchor="ctr">
                    <a:solidFill>
                      <a:srgbClr val="E9E9E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E9E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30884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E9E9E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네비게이션의 위치와 이미지는 적절한가</a:t>
                      </a:r>
                      <a:r>
                        <a:rPr lang="en-US" altLang="ko-KR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  <a:endParaRPr lang="ko-KR" altLang="en-US" sz="1500" dirty="0"/>
                    </a:p>
                  </a:txBody>
                  <a:tcPr>
                    <a:solidFill>
                      <a:srgbClr val="E9E9E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O</a:t>
                      </a:r>
                      <a:endParaRPr lang="ko-KR" altLang="en-US" sz="1500" dirty="0"/>
                    </a:p>
                  </a:txBody>
                  <a:tcPr anchor="ctr">
                    <a:solidFill>
                      <a:srgbClr val="E9E9E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E9E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965947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E9E9E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웹사이트의 목적이 무엇인지 분명하고 단순하게</a:t>
                      </a:r>
                      <a:r>
                        <a:rPr lang="en-US" altLang="ko-KR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그리고 짧은 시간에 파악되는가</a:t>
                      </a:r>
                      <a:r>
                        <a:rPr lang="en-US" altLang="ko-KR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  <a:endParaRPr lang="ko-KR" altLang="en-US" sz="1500" dirty="0"/>
                    </a:p>
                  </a:txBody>
                  <a:tcPr>
                    <a:solidFill>
                      <a:srgbClr val="E9E9E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O</a:t>
                      </a:r>
                      <a:endParaRPr lang="ko-KR" altLang="en-US" sz="1500" dirty="0"/>
                    </a:p>
                  </a:txBody>
                  <a:tcPr anchor="ctr">
                    <a:solidFill>
                      <a:srgbClr val="E9E9E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E9E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1314253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콘텐츠</a:t>
                      </a:r>
                      <a:r>
                        <a:rPr lang="en-US" altLang="ko-KR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&amp;</a:t>
                      </a:r>
                      <a:r>
                        <a:rPr lang="ko-KR" altLang="en-US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스타일</a:t>
                      </a:r>
                      <a:endParaRPr lang="ko-KR" altLang="en-US" sz="1500" dirty="0"/>
                    </a:p>
                  </a:txBody>
                  <a:tcPr anchor="ctr">
                    <a:solidFill>
                      <a:srgbClr val="E9E9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콘텐츠 전체에 사용된 글에 오타</a:t>
                      </a:r>
                      <a:r>
                        <a:rPr lang="en-US" altLang="ko-KR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띄어쓰기</a:t>
                      </a:r>
                      <a:r>
                        <a:rPr lang="en-US" altLang="ko-KR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는 없는가</a:t>
                      </a:r>
                      <a:r>
                        <a:rPr lang="en-US" altLang="ko-KR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</a:p>
                    <a:p>
                      <a:r>
                        <a:rPr lang="en-US" altLang="ko-KR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잘못된 문장부호</a:t>
                      </a:r>
                      <a:r>
                        <a:rPr lang="en-US" altLang="ko-KR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마침표</a:t>
                      </a:r>
                      <a:r>
                        <a:rPr lang="en-US" altLang="ko-KR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쉼표</a:t>
                      </a:r>
                      <a:r>
                        <a:rPr lang="en-US" altLang="ko-KR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글머리기호 등</a:t>
                      </a:r>
                      <a:r>
                        <a:rPr lang="en-US" altLang="ko-KR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en-US" altLang="ko-KR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중요한 문단의 </a:t>
                      </a:r>
                      <a:r>
                        <a:rPr lang="ko-KR" altLang="en-US" sz="15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오탈자</a:t>
                      </a:r>
                      <a:r>
                        <a:rPr lang="ko-KR" altLang="en-US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체크</a:t>
                      </a:r>
                      <a:endParaRPr lang="ko-KR" altLang="en-US" sz="1500" dirty="0"/>
                    </a:p>
                  </a:txBody>
                  <a:tcPr>
                    <a:solidFill>
                      <a:srgbClr val="E9E9E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O</a:t>
                      </a:r>
                      <a:endParaRPr lang="ko-KR" altLang="en-US" sz="1500" dirty="0"/>
                    </a:p>
                  </a:txBody>
                  <a:tcPr anchor="ctr">
                    <a:solidFill>
                      <a:srgbClr val="E9E9E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E9E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4471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E9E9E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맞춤법과 문법에 어긋나는 표현은 없는가</a:t>
                      </a:r>
                      <a:r>
                        <a:rPr lang="en-US" altLang="ko-KR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  <a:endParaRPr lang="ko-KR" altLang="en-US" sz="1500" dirty="0"/>
                    </a:p>
                  </a:txBody>
                  <a:tcPr>
                    <a:solidFill>
                      <a:srgbClr val="E9E9E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O</a:t>
                      </a:r>
                      <a:endParaRPr lang="ko-KR" altLang="en-US" sz="1500" dirty="0"/>
                    </a:p>
                  </a:txBody>
                  <a:tcPr anchor="ctr">
                    <a:solidFill>
                      <a:srgbClr val="E9E9E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E9E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21165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E9E9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서체</a:t>
                      </a:r>
                      <a:r>
                        <a:rPr lang="en-US" altLang="ko-KR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색상</a:t>
                      </a:r>
                      <a:r>
                        <a:rPr lang="en-US" altLang="ko-KR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레이아웃 등의 일관성과 통일성을 유지하고 있는가</a:t>
                      </a:r>
                      <a:r>
                        <a:rPr lang="en-US" altLang="ko-KR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</a:p>
                    <a:p>
                      <a:r>
                        <a:rPr lang="en-US" altLang="ko-KR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쓰기의 서체</a:t>
                      </a:r>
                    </a:p>
                    <a:p>
                      <a:r>
                        <a:rPr lang="en-US" altLang="ko-KR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스타일</a:t>
                      </a:r>
                      <a:endParaRPr lang="ko-KR" altLang="en-US" sz="1500" dirty="0"/>
                    </a:p>
                  </a:txBody>
                  <a:tcPr>
                    <a:solidFill>
                      <a:srgbClr val="E9E9E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O</a:t>
                      </a:r>
                      <a:endParaRPr lang="ko-KR" altLang="en-US" sz="1500" dirty="0"/>
                    </a:p>
                  </a:txBody>
                  <a:tcPr anchor="ctr">
                    <a:solidFill>
                      <a:srgbClr val="E9E9E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E9E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7475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E9E9E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콘텐츠가 논리적인 순서로 되어 있는가</a:t>
                      </a:r>
                      <a:r>
                        <a:rPr lang="en-US" altLang="ko-KR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  <a:endParaRPr lang="ko-KR" altLang="en-US" sz="1500" dirty="0"/>
                    </a:p>
                  </a:txBody>
                  <a:tcPr>
                    <a:solidFill>
                      <a:srgbClr val="E9E9E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O</a:t>
                      </a:r>
                      <a:endParaRPr lang="ko-KR" altLang="en-US" sz="1500" dirty="0"/>
                    </a:p>
                  </a:txBody>
                  <a:tcPr anchor="ctr">
                    <a:solidFill>
                      <a:srgbClr val="E9E9E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E9E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9434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1786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57908" y="620688"/>
            <a:ext cx="9782801" cy="724941"/>
          </a:xfrm>
        </p:spPr>
        <p:txBody>
          <a:bodyPr rtlCol="0">
            <a:normAutofit fontScale="90000"/>
          </a:bodyPr>
          <a:lstStyle/>
          <a:p>
            <a:pPr rtl="0">
              <a:lnSpc>
                <a:spcPct val="20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발생한 결함 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A8622CF-DC7D-4983-A099-F708E885444E}"/>
              </a:ext>
            </a:extLst>
          </p:cNvPr>
          <p:cNvSpPr/>
          <p:nvPr/>
        </p:nvSpPr>
        <p:spPr>
          <a:xfrm>
            <a:off x="1845940" y="2132856"/>
            <a:ext cx="2736304" cy="576064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accent5">
                    <a:lumMod val="50000"/>
                  </a:schemeClr>
                </a:solidFill>
              </a:rPr>
              <a:t>디자인 및 구현</a:t>
            </a:r>
            <a:endParaRPr lang="ko-KR" alt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C54F61-10AB-4906-BC6A-8A6E18662CD1}"/>
              </a:ext>
            </a:extLst>
          </p:cNvPr>
          <p:cNvSpPr txBox="1"/>
          <p:nvPr/>
        </p:nvSpPr>
        <p:spPr>
          <a:xfrm>
            <a:off x="1797394" y="3203684"/>
            <a:ext cx="2000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/>
              <a:t>코드분리가 안됨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565ED8-5A59-4558-9D95-2FB750FC12C8}"/>
              </a:ext>
            </a:extLst>
          </p:cNvPr>
          <p:cNvSpPr txBox="1"/>
          <p:nvPr/>
        </p:nvSpPr>
        <p:spPr>
          <a:xfrm>
            <a:off x="1807330" y="3995772"/>
            <a:ext cx="3954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따로 기능이 필요 없는 버튼도 작동함</a:t>
            </a:r>
          </a:p>
        </p:txBody>
      </p:sp>
    </p:spTree>
    <p:extLst>
      <p:ext uri="{BB962C8B-B14F-4D97-AF65-F5344CB8AC3E}">
        <p14:creationId xmlns:p14="http://schemas.microsoft.com/office/powerpoint/2010/main" val="2830727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57908" y="620688"/>
            <a:ext cx="9782801" cy="724941"/>
          </a:xfrm>
        </p:spPr>
        <p:txBody>
          <a:bodyPr rtlCol="0">
            <a:normAutofit/>
          </a:bodyPr>
          <a:lstStyle/>
          <a:p>
            <a:pPr marL="0" indent="0" defTabSz="508000" latinLnBrk="0">
              <a:buFontTx/>
              <a:buNone/>
            </a:pPr>
            <a:r>
              <a:rPr lang="ko-KR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charset="0"/>
                <a:ea typeface="HY헤드라인M" charset="0"/>
              </a:rPr>
              <a:t>점검 및 개선사항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98F3AB-46A8-4A7B-A999-E8DDAF47E269}"/>
              </a:ext>
            </a:extLst>
          </p:cNvPr>
          <p:cNvSpPr txBox="1"/>
          <p:nvPr/>
        </p:nvSpPr>
        <p:spPr>
          <a:xfrm>
            <a:off x="1773932" y="1772816"/>
            <a:ext cx="63367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-</a:t>
            </a:r>
            <a:r>
              <a:rPr lang="ko-KR" altLang="en-US" sz="3200" dirty="0"/>
              <a:t>생략해도 괜찮은 버튼을 삭제</a:t>
            </a:r>
            <a:endParaRPr lang="en-US" altLang="ko-KR" sz="3200" dirty="0"/>
          </a:p>
          <a:p>
            <a:r>
              <a:rPr lang="en-US" altLang="ko-KR" sz="3200" dirty="0"/>
              <a:t>-</a:t>
            </a:r>
            <a:r>
              <a:rPr lang="ko-KR" altLang="en-US" sz="3200" dirty="0" err="1"/>
              <a:t>네비</a:t>
            </a:r>
            <a:r>
              <a:rPr lang="ko-KR" altLang="en-US" sz="3200" dirty="0"/>
              <a:t> 바 고정</a:t>
            </a:r>
            <a:r>
              <a:rPr lang="en-US" altLang="ko-KR" sz="3200" dirty="0"/>
              <a:t>,</a:t>
            </a:r>
            <a:r>
              <a:rPr lang="ko-KR" altLang="en-US" sz="3200" dirty="0"/>
              <a:t>유지</a:t>
            </a:r>
            <a:endParaRPr lang="en-US" altLang="ko-KR" sz="3200" dirty="0"/>
          </a:p>
          <a:p>
            <a:r>
              <a:rPr lang="en-US" altLang="ko-KR" sz="3200" dirty="0"/>
              <a:t>-</a:t>
            </a:r>
            <a:r>
              <a:rPr lang="en-US" altLang="ko-KR" sz="3200" dirty="0" err="1"/>
              <a:t>html,css,js</a:t>
            </a:r>
            <a:r>
              <a:rPr lang="en-US" altLang="ko-KR" sz="3200" dirty="0"/>
              <a:t> </a:t>
            </a:r>
            <a:r>
              <a:rPr lang="ko-KR" altLang="en-US" sz="3200" dirty="0"/>
              <a:t>분리</a:t>
            </a:r>
          </a:p>
        </p:txBody>
      </p:sp>
    </p:spTree>
    <p:extLst>
      <p:ext uri="{BB962C8B-B14F-4D97-AF65-F5344CB8AC3E}">
        <p14:creationId xmlns:p14="http://schemas.microsoft.com/office/powerpoint/2010/main" val="4067431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3446F68-9970-4CDD-9D1E-0B95E2FB1E9C}"/>
              </a:ext>
            </a:extLst>
          </p:cNvPr>
          <p:cNvSpPr txBox="1"/>
          <p:nvPr/>
        </p:nvSpPr>
        <p:spPr>
          <a:xfrm>
            <a:off x="6886500" y="3081154"/>
            <a:ext cx="30573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/>
              <a:t>THANK YOU</a:t>
            </a:r>
            <a:endParaRPr lang="ko-KR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941285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수학 16x9">
  <a:themeElements>
    <a:clrScheme name="녹색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309075_TF02787947.potx" id="{B8699BEA-88FE-46AE-9C91-758F893D9D72}" vid="{49C0D881-87C2-41B2-AF8A-6EC5F711E747}"/>
    </a:ext>
  </a:extLst>
</a:theme>
</file>

<file path=ppt/theme/theme2.xml><?xml version="1.0" encoding="utf-8"?>
<a:theme xmlns:a="http://schemas.openxmlformats.org/drawingml/2006/main" name="Office 테마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</TotalTime>
  <Words>194</Words>
  <Application>Microsoft Office PowerPoint</Application>
  <PresentationFormat>사용자 지정</PresentationFormat>
  <Paragraphs>52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G마켓 산스 TTF Medium</vt:lpstr>
      <vt:lpstr>HY헤드라인M</vt:lpstr>
      <vt:lpstr>맑은 고딕</vt:lpstr>
      <vt:lpstr>Arial</vt:lpstr>
      <vt:lpstr>Euphemia</vt:lpstr>
      <vt:lpstr>수학 16x9</vt:lpstr>
      <vt:lpstr>포트폴리오웹/앱 UI개선 결과 보고서</vt:lpstr>
      <vt:lpstr>목차</vt:lpstr>
      <vt:lpstr>포트폴리오웹 사용성 체크리스트</vt:lpstr>
      <vt:lpstr>발생한 결함 </vt:lpstr>
      <vt:lpstr>점검 및 개선사항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모바일웹 UI개선결과 보고서</dc:title>
  <dc:creator>김 수진</dc:creator>
  <cp:lastModifiedBy>Administrator</cp:lastModifiedBy>
  <cp:revision>24</cp:revision>
  <dcterms:created xsi:type="dcterms:W3CDTF">2021-11-29T09:51:03Z</dcterms:created>
  <dcterms:modified xsi:type="dcterms:W3CDTF">2026-01-12T02:46:34Z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